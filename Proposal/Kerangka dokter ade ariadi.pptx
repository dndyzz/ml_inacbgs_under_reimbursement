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164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Kerangka &amp; Tabel Penelitian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Gambar 2.1, 2.2, 3.1, 3.2 dan Tabel 2.1, 3.1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Prediksi Under-Reimbursement antara Biaya Riil dan Klaim INA-CBGs pada Pasien ICU Dewasa (RSCM)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943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4663440" y="1137996"/>
            <a:ext cx="2834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6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Perawatan Pasien di ICU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6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24 Jam Pertama</a:t>
            </a:r>
          </a:p>
        </p:txBody>
      </p:sp>
      <p:sp>
        <p:nvSpPr>
          <p:cNvPr id="4" name="NBox 4"/>
          <p:cNvSpPr/>
          <p:nvPr/>
        </p:nvSpPr>
        <p:spPr>
          <a:xfrm>
            <a:off x="163903" y="2491308"/>
            <a:ext cx="3219377" cy="165799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72000" tIns="45720" rIns="45720" bIns="27432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Rumah Sakit dan Sistem Pembayaran: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Tarif paket INA-CBGs per episode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Kode CMG dan severity level final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Tarif dasar dan regionalisasi rumah sakit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Kelengkapan koding diagnosis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Biaya tenaga medis, alat, obat, dan utilitas ICU</a:t>
            </a:r>
          </a:p>
        </p:txBody>
      </p:sp>
      <p:sp>
        <p:nvSpPr>
          <p:cNvPr id="5" name="BA 5"/>
          <p:cNvSpPr/>
          <p:nvPr/>
        </p:nvSpPr>
        <p:spPr>
          <a:xfrm>
            <a:off x="3383280" y="2893644"/>
            <a:ext cx="929928" cy="420624"/>
          </a:xfrm>
          <a:prstGeom prst="righ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id-ID" sz="1200" dirty="0"/>
          </a:p>
        </p:txBody>
      </p:sp>
      <p:sp>
        <p:nvSpPr>
          <p:cNvPr id="6" name="NBox 6"/>
          <p:cNvSpPr/>
          <p:nvPr/>
        </p:nvSpPr>
        <p:spPr>
          <a:xfrm>
            <a:off x="8778240" y="2482682"/>
            <a:ext cx="2811776" cy="16666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72000" tIns="45720" rIns="45720" bIns="27432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Pasien: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Karakteristik demografi dan administratif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Keparahan dan disfungsi organ 24 jam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Intervensi dan organ support 24 jam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Kategori diagnosis utama saat admisi</a:t>
            </a:r>
          </a:p>
          <a:p>
            <a:pPr marL="109728" indent="-109728" algn="l">
              <a:spcBef>
                <a:spcPts val="6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Durasi rawat pra-ICU</a:t>
            </a:r>
          </a:p>
        </p:txBody>
      </p:sp>
      <p:sp>
        <p:nvSpPr>
          <p:cNvPr id="7" name="BA 7"/>
          <p:cNvSpPr/>
          <p:nvPr/>
        </p:nvSpPr>
        <p:spPr>
          <a:xfrm>
            <a:off x="7867290" y="2893644"/>
            <a:ext cx="910949" cy="420624"/>
          </a:xfrm>
          <a:prstGeom prst="leftArrow">
            <a:avLst>
              <a:gd name="adj1" fmla="val 50000"/>
              <a:gd name="adj2" fmla="val 45000"/>
            </a:avLst>
          </a:prstGeom>
          <a:solidFill>
            <a:srgbClr val="000000"/>
          </a:solidFill>
          <a:ln>
            <a:noFill/>
          </a:ln>
        </p:spPr>
        <p:txBody>
          <a:bodyPr/>
          <a:lstStyle/>
          <a:p>
            <a:pPr algn="ctr">
              <a:buNone/>
            </a:pPr>
            <a:endParaRPr lang="id-ID" sz="1200" dirty="0"/>
          </a:p>
        </p:txBody>
      </p:sp>
      <p:sp>
        <p:nvSpPr>
          <p:cNvPr id="8" name="Box 8"/>
          <p:cNvSpPr/>
          <p:nvPr/>
        </p:nvSpPr>
        <p:spPr>
          <a:xfrm>
            <a:off x="4302855" y="2765628"/>
            <a:ext cx="3564435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Model </a:t>
            </a:r>
            <a:r>
              <a:rPr lang="id-ID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Prediksi </a:t>
            </a:r>
            <a:r>
              <a:rPr lang="id-ID" sz="1600" b="1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Under-reimbursement</a:t>
            </a:r>
          </a:p>
          <a:p>
            <a:pPr algn="ctr">
              <a:lnSpc>
                <a:spcPct val="88000"/>
              </a:lnSpc>
            </a:pPr>
            <a:r>
              <a:rPr lang="id-ID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berbasis Machine Learning</a:t>
            </a:r>
          </a:p>
        </p:txBody>
      </p:sp>
      <p:sp>
        <p:nvSpPr>
          <p:cNvPr id="11" name="Box 11"/>
          <p:cNvSpPr/>
          <p:nvPr/>
        </p:nvSpPr>
        <p:spPr>
          <a:xfrm>
            <a:off x="3943709" y="4526795"/>
            <a:ext cx="4304581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algn="ctr">
              <a:lnSpc>
                <a:spcPct val="88000"/>
              </a:lnSpc>
            </a:pPr>
            <a:r>
              <a:rPr lang="en-US" sz="1600" b="1" dirty="0" err="1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Prediksi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 </a:t>
            </a: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Under-</a:t>
            </a:r>
            <a:r>
              <a:rPr lang="en-US" sz="1600" b="1" i="1" dirty="0" err="1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Reimbursment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Klaim</a:t>
            </a: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 INA-CBGs</a:t>
            </a:r>
            <a:endParaRPr lang="id-ID" sz="1600" b="1" dirty="0">
              <a:solidFill>
                <a:srgbClr val="000000"/>
              </a:solidFill>
              <a:latin typeface="Times New Roman" pitchFamily="34" charset="0"/>
              <a:cs typeface="Times New Roman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35A3CA-42FE-6DC0-21E6-75BC4E353BDB}"/>
              </a:ext>
            </a:extLst>
          </p:cNvPr>
          <p:cNvCxnSpPr>
            <a:stCxn id="2" idx="1"/>
          </p:cNvCxnSpPr>
          <p:nvPr/>
        </p:nvCxnSpPr>
        <p:spPr>
          <a:xfrm flipH="1">
            <a:off x="1851660" y="1421460"/>
            <a:ext cx="28117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E93736-47FB-A9CD-F9F9-3EA967B4727A}"/>
              </a:ext>
            </a:extLst>
          </p:cNvPr>
          <p:cNvCxnSpPr>
            <a:cxnSpLocks/>
          </p:cNvCxnSpPr>
          <p:nvPr/>
        </p:nvCxnSpPr>
        <p:spPr>
          <a:xfrm>
            <a:off x="1877538" y="1421460"/>
            <a:ext cx="0" cy="10698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5C9F03-3056-6DA7-FE6B-678F927C7E01}"/>
              </a:ext>
            </a:extLst>
          </p:cNvPr>
          <p:cNvCxnSpPr/>
          <p:nvPr/>
        </p:nvCxnSpPr>
        <p:spPr>
          <a:xfrm flipH="1">
            <a:off x="7498080" y="1421460"/>
            <a:ext cx="28117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BD083F-AEF6-5E45-3FF2-DD05704B6E6B}"/>
              </a:ext>
            </a:extLst>
          </p:cNvPr>
          <p:cNvCxnSpPr>
            <a:cxnSpLocks/>
          </p:cNvCxnSpPr>
          <p:nvPr/>
        </p:nvCxnSpPr>
        <p:spPr>
          <a:xfrm>
            <a:off x="10301234" y="1404208"/>
            <a:ext cx="0" cy="10698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9D5B1A-EB19-46BE-BE54-395775F3EFD8}"/>
              </a:ext>
            </a:extLst>
          </p:cNvPr>
          <p:cNvCxnSpPr>
            <a:cxnSpLocks/>
          </p:cNvCxnSpPr>
          <p:nvPr/>
        </p:nvCxnSpPr>
        <p:spPr>
          <a:xfrm>
            <a:off x="6080760" y="3442284"/>
            <a:ext cx="0" cy="10698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868680" y="274320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yang Memengaruhi Pembiayaan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dari Sisi Rumah Sakit</a:t>
            </a:r>
          </a:p>
        </p:txBody>
      </p:sp>
      <p:sp>
        <p:nvSpPr>
          <p:cNvPr id="3" name="Box 3"/>
          <p:cNvSpPr/>
          <p:nvPr/>
        </p:nvSpPr>
        <p:spPr>
          <a:xfrm>
            <a:off x="6446520" y="274320"/>
            <a:ext cx="35661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Faktor yang Memengaruhi Pembiayaan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dari Sisi Pasien</a:t>
            </a:r>
          </a:p>
        </p:txBody>
      </p:sp>
      <p:sp>
        <p:nvSpPr>
          <p:cNvPr id="4" name="Box 4"/>
          <p:cNvSpPr/>
          <p:nvPr/>
        </p:nvSpPr>
        <p:spPr>
          <a:xfrm>
            <a:off x="6355080" y="1095555"/>
            <a:ext cx="3749040" cy="4202100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1200" dirty="0"/>
          </a:p>
        </p:txBody>
      </p:sp>
      <p:sp>
        <p:nvSpPr>
          <p:cNvPr id="5" name="NBox 5"/>
          <p:cNvSpPr/>
          <p:nvPr/>
        </p:nvSpPr>
        <p:spPr>
          <a:xfrm>
            <a:off x="6510528" y="1268426"/>
            <a:ext cx="3438144" cy="38211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72000" tIns="45720" rIns="45720" bIns="27432" rtlCol="0" anchor="t"/>
          <a:lstStyle/>
          <a:p>
            <a:pPr marL="0" indent="0" algn="l">
              <a:lnSpc>
                <a:spcPct val="88000"/>
              </a:lnSpc>
              <a:spcBef>
                <a:spcPts val="300"/>
              </a:spcBef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Prediktor 24 Jam Pertama Perawatan ICU:</a:t>
            </a:r>
          </a:p>
          <a:p>
            <a:pPr marL="109728" indent="-109728" algn="l">
              <a:lnSpc>
                <a:spcPct val="86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demografi dan administratif: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Usia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Jenis kelamin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Kelas rawat JKN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Tipe admisi ICU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Durasi rawat pra-ICU</a:t>
            </a:r>
          </a:p>
          <a:p>
            <a:pPr marL="109728" indent="-109728" algn="l">
              <a:lnSpc>
                <a:spcPct val="86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intervensi dan organ support: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Ventilasi mekanik invasif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Vasopresor/inotropik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Transfusi darah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Pembedahan dalam 24 jam</a:t>
            </a:r>
          </a:p>
          <a:p>
            <a:pPr marL="109728" indent="-109728" algn="l">
              <a:lnSpc>
                <a:spcPct val="86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disfungsi or</a:t>
            </a:r>
            <a:r>
              <a:rPr lang="en-US" sz="1200" dirty="0" err="1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gan</a:t>
            </a: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: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MAP terendah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SpO₂/FiO₂ terendah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GCS terendah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Kreatinin serum tertinggi</a:t>
            </a:r>
          </a:p>
          <a:p>
            <a:pPr marL="109728" indent="-109728" algn="l">
              <a:lnSpc>
                <a:spcPct val="86000"/>
              </a:lnSpc>
              <a:spcBef>
                <a:spcPts val="300"/>
              </a:spcBef>
              <a:buFont typeface="Arial" pitchFamily="34" charset="0"/>
              <a:buChar char="•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Domain kasus:</a:t>
            </a:r>
          </a:p>
          <a:p>
            <a:pPr marL="283464" indent="-109728" algn="l">
              <a:lnSpc>
                <a:spcPct val="86000"/>
              </a:lnSpc>
              <a:spcBef>
                <a:spcPts val="300"/>
              </a:spcBef>
              <a:buFont typeface="Courier New" pitchFamily="34" charset="0"/>
              <a:buChar char="o"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Kategori diagnosis utama saat admisi</a:t>
            </a:r>
          </a:p>
        </p:txBody>
      </p:sp>
      <p:sp>
        <p:nvSpPr>
          <p:cNvPr id="6" name="Box 6"/>
          <p:cNvSpPr/>
          <p:nvPr/>
        </p:nvSpPr>
        <p:spPr>
          <a:xfrm>
            <a:off x="868680" y="1764792"/>
            <a:ext cx="3566160" cy="1042416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1200" dirty="0"/>
          </a:p>
        </p:txBody>
      </p:sp>
      <p:sp>
        <p:nvSpPr>
          <p:cNvPr id="7" name="Box 7"/>
          <p:cNvSpPr/>
          <p:nvPr/>
        </p:nvSpPr>
        <p:spPr>
          <a:xfrm>
            <a:off x="1024128" y="1920240"/>
            <a:ext cx="325526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Status </a:t>
            </a:r>
            <a:r>
              <a:rPr lang="id-ID" sz="14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Under-reimbursement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id-ID" sz="14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rasio klaim INA-CBGs : tagihan RS &lt; 1</a:t>
            </a:r>
          </a:p>
        </p:txBody>
      </p:sp>
      <p:sp>
        <p:nvSpPr>
          <p:cNvPr id="8" name="Ln 8"/>
          <p:cNvSpPr/>
          <p:nvPr/>
        </p:nvSpPr>
        <p:spPr>
          <a:xfrm>
            <a:off x="2651760" y="877824"/>
            <a:ext cx="0" cy="886968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9" name="Ln 9"/>
          <p:cNvSpPr/>
          <p:nvPr/>
        </p:nvSpPr>
        <p:spPr>
          <a:xfrm>
            <a:off x="8229600" y="877824"/>
            <a:ext cx="0" cy="390602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3" name="Box 13"/>
          <p:cNvSpPr/>
          <p:nvPr/>
        </p:nvSpPr>
        <p:spPr>
          <a:xfrm>
            <a:off x="3683480" y="5515738"/>
            <a:ext cx="395175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algn="ctr">
              <a:lnSpc>
                <a:spcPct val="88000"/>
              </a:lnSpc>
            </a:pPr>
            <a:r>
              <a:rPr lang="id-ID" sz="14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Model Machine Learning</a:t>
            </a:r>
          </a:p>
          <a:p>
            <a:pPr algn="ctr">
              <a:lnSpc>
                <a:spcPct val="88000"/>
              </a:lnSpc>
            </a:pPr>
            <a:r>
              <a:rPr lang="id-ID" sz="1400" i="1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XGBoost · Random Forest · Elastic Net</a:t>
            </a:r>
          </a:p>
        </p:txBody>
      </p:sp>
      <p:sp>
        <p:nvSpPr>
          <p:cNvPr id="14" name="Ln 14"/>
          <p:cNvSpPr/>
          <p:nvPr/>
        </p:nvSpPr>
        <p:spPr>
          <a:xfrm>
            <a:off x="8212348" y="5101668"/>
            <a:ext cx="0" cy="697533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</a:ln>
        </p:spPr>
      </p:sp>
      <p:sp>
        <p:nvSpPr>
          <p:cNvPr id="15" name="Ln 15"/>
          <p:cNvSpPr/>
          <p:nvPr/>
        </p:nvSpPr>
        <p:spPr>
          <a:xfrm flipH="1">
            <a:off x="7635240" y="5799202"/>
            <a:ext cx="594360" cy="0"/>
          </a:xfrm>
          <a:prstGeom prst="line">
            <a:avLst/>
          </a:prstGeom>
          <a:noFill/>
          <a:ln w="38100">
            <a:solidFill>
              <a:srgbClr val="000000"/>
            </a:solidFill>
            <a:prstDash val="solid"/>
            <a:tailEnd type="triangle" w="sm" len="sm"/>
          </a:ln>
        </p:spPr>
      </p:sp>
      <p:sp>
        <p:nvSpPr>
          <p:cNvPr id="18" name="Txt 18"/>
          <p:cNvSpPr/>
          <p:nvPr/>
        </p:nvSpPr>
        <p:spPr>
          <a:xfrm>
            <a:off x="502920" y="643013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Keterangan:</a:t>
            </a:r>
          </a:p>
        </p:txBody>
      </p:sp>
      <p:sp>
        <p:nvSpPr>
          <p:cNvPr id="19" name="Box 19"/>
          <p:cNvSpPr/>
          <p:nvPr/>
        </p:nvSpPr>
        <p:spPr>
          <a:xfrm>
            <a:off x="1737360" y="6430138"/>
            <a:ext cx="731520" cy="201168"/>
          </a:xfrm>
          <a:prstGeom prst="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1200" dirty="0"/>
          </a:p>
        </p:txBody>
      </p:sp>
      <p:sp>
        <p:nvSpPr>
          <p:cNvPr id="20" name="Txt 20"/>
          <p:cNvSpPr/>
          <p:nvPr/>
        </p:nvSpPr>
        <p:spPr>
          <a:xfrm>
            <a:off x="2560320" y="643013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: variabel independen</a:t>
            </a:r>
          </a:p>
        </p:txBody>
      </p:sp>
      <p:sp>
        <p:nvSpPr>
          <p:cNvPr id="21" name="Box 21"/>
          <p:cNvSpPr/>
          <p:nvPr/>
        </p:nvSpPr>
        <p:spPr>
          <a:xfrm>
            <a:off x="4754880" y="6430138"/>
            <a:ext cx="731520" cy="20116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txBody>
          <a:bodyPr wrap="square" lIns="45720" tIns="22860" rIns="45720" bIns="22860" rtlCol="0" anchor="ctr"/>
          <a:lstStyle/>
          <a:p>
            <a:pPr marL="0" indent="0">
              <a:buNone/>
            </a:pPr>
            <a:endParaRPr lang="id-ID" sz="1200" dirty="0"/>
          </a:p>
        </p:txBody>
      </p:sp>
      <p:sp>
        <p:nvSpPr>
          <p:cNvPr id="22" name="Txt 22"/>
          <p:cNvSpPr/>
          <p:nvPr/>
        </p:nvSpPr>
        <p:spPr>
          <a:xfrm>
            <a:off x="5577840" y="643013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88000"/>
              </a:lnSpc>
              <a:buNone/>
            </a:pPr>
            <a:r>
              <a:rPr lang="id-ID" sz="1200" dirty="0">
                <a:solidFill>
                  <a:srgbClr val="000000"/>
                </a:solidFill>
                <a:latin typeface="Times New Roman" pitchFamily="34" charset="0"/>
                <a:cs typeface="Times New Roman" pitchFamily="34" charset="0"/>
              </a:rPr>
              <a:t>: variabel dependen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A6628D-453A-4C61-8ADC-7CBB213D002C}"/>
              </a:ext>
            </a:extLst>
          </p:cNvPr>
          <p:cNvCxnSpPr>
            <a:cxnSpLocks/>
          </p:cNvCxnSpPr>
          <p:nvPr/>
        </p:nvCxnSpPr>
        <p:spPr>
          <a:xfrm flipV="1">
            <a:off x="2629330" y="2807208"/>
            <a:ext cx="20321" cy="299199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1CAF3A-BFD1-7699-80BA-528BBCAECD4E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629330" y="5799202"/>
            <a:ext cx="10541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Gambar 3.1  Alur Seleksi Subjek Penelitian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7A5121-DB91-E602-FB5A-C0615CA8DAAA}"/>
              </a:ext>
            </a:extLst>
          </p:cNvPr>
          <p:cNvGrpSpPr/>
          <p:nvPr/>
        </p:nvGrpSpPr>
        <p:grpSpPr>
          <a:xfrm>
            <a:off x="2103120" y="1325880"/>
            <a:ext cx="9646920" cy="4297680"/>
            <a:chOff x="2103120" y="1325880"/>
            <a:chExt cx="9646920" cy="4297680"/>
          </a:xfrm>
        </p:grpSpPr>
        <p:sp>
          <p:nvSpPr>
            <p:cNvPr id="4" name="Text 2"/>
            <p:cNvSpPr/>
            <p:nvPr/>
          </p:nvSpPr>
          <p:spPr>
            <a:xfrm>
              <a:off x="2103120" y="1325880"/>
              <a:ext cx="57607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Populasi terjangkau</a:t>
              </a:r>
              <a:endParaRPr lang="en-US" sz="120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Pasien ICU dewasa RSCM peserta JKN, Mei 2025–Mei 2026  (n = …)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4983480" y="2194560"/>
              <a:ext cx="0" cy="8686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6" name="Text 4"/>
            <p:cNvSpPr/>
            <p:nvPr/>
          </p:nvSpPr>
          <p:spPr>
            <a:xfrm>
              <a:off x="8366760" y="2148840"/>
              <a:ext cx="3383280" cy="1874520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sz="11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Dieksklusi  (n = …):</a:t>
              </a:r>
              <a:endParaRPr lang="en-US" sz="1100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Dirawat ICU &lt; 24 jam / meninggal dalam 24 jam pertama</a:t>
              </a:r>
              <a:endParaRPr lang="en-US" sz="1100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Rujukan tanpa data waktu masuk RS asal</a:t>
              </a:r>
              <a:endParaRPr lang="en-US" sz="1100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Data kunci tidak lengkap</a:t>
              </a:r>
              <a:endParaRPr lang="en-US" sz="1100" dirty="0"/>
            </a:p>
            <a:p>
              <a:pPr marL="0" indent="0" algn="l">
                <a:lnSpc>
                  <a:spcPct val="95000"/>
                </a:lnSpc>
                <a:buNone/>
              </a:pPr>
              <a:r>
                <a:rPr lang="en-US" sz="10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• Rawat ulang ICU dalam episode yang sama</a:t>
              </a:r>
              <a:endParaRPr lang="en-US" sz="11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983480" y="2624328"/>
              <a:ext cx="33832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8" name="Text 6"/>
            <p:cNvSpPr/>
            <p:nvPr/>
          </p:nvSpPr>
          <p:spPr>
            <a:xfrm>
              <a:off x="2103120" y="3063240"/>
              <a:ext cx="5760720" cy="86868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Subjek memenuhi kriteria inklusi &amp; eksklusi</a:t>
              </a:r>
              <a:endParaRPr lang="en-US" sz="120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Dianalisis  (n = …)</a:t>
              </a:r>
              <a:endParaRPr lang="en-US" sz="12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983480" y="3931920"/>
              <a:ext cx="0" cy="411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3543300" y="4343400"/>
              <a:ext cx="28803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3543300" y="4343400"/>
              <a:ext cx="0" cy="365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6423660" y="4343400"/>
              <a:ext cx="0" cy="365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3" name="Text 11"/>
            <p:cNvSpPr/>
            <p:nvPr/>
          </p:nvSpPr>
          <p:spPr>
            <a:xfrm>
              <a:off x="2286000" y="4709160"/>
              <a:ext cx="2651760" cy="914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Under-reimbursement: Ya</a:t>
              </a:r>
              <a:endParaRPr lang="en-US" sz="115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 &gt; 1  (n = …)</a:t>
              </a:r>
              <a:endParaRPr lang="en-US" sz="11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029200" y="4709160"/>
              <a:ext cx="2651760" cy="914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Under-reimbursement: Tidak</a:t>
              </a:r>
              <a:endParaRPr lang="en-US" sz="1150" dirty="0"/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100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 ≤ 1  (n = …)</a:t>
              </a:r>
              <a:endParaRPr lang="en-US" sz="115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Catatan: jumlah (n) diisi setelah pengumpulan data. Konsisten dengan kriteria inklusi/eksklusi pada subbab 3.3.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Gambar 3.2  Kerangka Kerja Penelitian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9C066C-986E-B9ED-3868-31865C588D4E}"/>
              </a:ext>
            </a:extLst>
          </p:cNvPr>
          <p:cNvGrpSpPr/>
          <p:nvPr/>
        </p:nvGrpSpPr>
        <p:grpSpPr>
          <a:xfrm>
            <a:off x="2148840" y="1280160"/>
            <a:ext cx="7863840" cy="5253228"/>
            <a:chOff x="2148840" y="1280160"/>
            <a:chExt cx="7863840" cy="5253228"/>
          </a:xfrm>
        </p:grpSpPr>
        <p:sp>
          <p:nvSpPr>
            <p:cNvPr id="4" name="Text 2"/>
            <p:cNvSpPr/>
            <p:nvPr/>
          </p:nvSpPr>
          <p:spPr>
            <a:xfrm>
              <a:off x="2148840" y="1280160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2331720" y="1280160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1. Populasi terjangkau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Pasien ICU dewasa RSCM peserta JKN, Mei 2025–Mei 2026</a:t>
              </a:r>
              <a:endParaRPr lang="en-US" sz="11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080760" y="1828800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7" name="Text 5"/>
            <p:cNvSpPr/>
            <p:nvPr/>
          </p:nvSpPr>
          <p:spPr>
            <a:xfrm>
              <a:off x="2148840" y="1952244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331720" y="1952244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2. Seleksi sampel (consecutive)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Penerapan kriteria inklusi &amp; eksklusi</a:t>
              </a:r>
              <a:endParaRPr lang="en-US" sz="115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080760" y="2500884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0" name="Text 8"/>
            <p:cNvSpPr/>
            <p:nvPr/>
          </p:nvSpPr>
          <p:spPr>
            <a:xfrm>
              <a:off x="2148840" y="2624328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331720" y="2624328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3. Pengumpulan variabel 24 jam pertama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Variabel klinis + administratif dari rekam medis &amp; SIM RS</a:t>
              </a:r>
              <a:endParaRPr lang="en-US" sz="11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6080760" y="3172968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3" name="Text 11"/>
            <p:cNvSpPr/>
            <p:nvPr/>
          </p:nvSpPr>
          <p:spPr>
            <a:xfrm>
              <a:off x="2148840" y="3296412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331720" y="3296412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4. Penentuan status under-reimbursement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Rasio biaya riil/klaim &gt; 1 dihitung di akhir episode rawat inap</a:t>
              </a:r>
              <a:endParaRPr lang="en-US" sz="11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6080760" y="3845052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6" name="Text 14"/>
            <p:cNvSpPr/>
            <p:nvPr/>
          </p:nvSpPr>
          <p:spPr>
            <a:xfrm>
              <a:off x="2148840" y="3968496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331720" y="3968496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5. Prapemrosesan data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MICE di dalam fold · encoding · pembobotan kelas</a:t>
              </a:r>
              <a:endParaRPr lang="en-US" sz="11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080760" y="4517136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19" name="Text 17"/>
            <p:cNvSpPr/>
            <p:nvPr/>
          </p:nvSpPr>
          <p:spPr>
            <a:xfrm>
              <a:off x="2148840" y="4640580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331720" y="4640580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6. Pengembangan &amp; validasi model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XGBoost · Random Forest · elastic-net LR — nested CV (5×3) + validasi temporal</a:t>
              </a:r>
              <a:endParaRPr lang="en-US" sz="11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080760" y="5189220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22" name="Text 20"/>
            <p:cNvSpPr/>
            <p:nvPr/>
          </p:nvSpPr>
          <p:spPr>
            <a:xfrm>
              <a:off x="2148840" y="5312664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331720" y="5312664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7. Evaluasi performa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Diskriminasi (AUC) · kalibrasi · decision curve · fairness</a:t>
              </a:r>
              <a:endParaRPr lang="en-US" sz="11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080760" y="5861304"/>
              <a:ext cx="0" cy="1234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prstDash val="solid"/>
              <a:tailEnd type="triangle"/>
            </a:ln>
          </p:spPr>
        </p:sp>
        <p:sp>
          <p:nvSpPr>
            <p:cNvPr id="25" name="Text 23"/>
            <p:cNvSpPr/>
            <p:nvPr/>
          </p:nvSpPr>
          <p:spPr>
            <a:xfrm>
              <a:off x="2148840" y="5984748"/>
              <a:ext cx="7863840" cy="54864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</a:ln>
          </p:spPr>
          <p:txBody>
            <a:bodyPr wrap="square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endParaRPr lang="en-US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331720" y="5984748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90000"/>
                </a:lnSpc>
                <a:buNone/>
              </a:pPr>
              <a:r>
                <a:rPr lang="en-US" sz="1150" b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8. Interpretasi SHAP &amp; pelaporan TRIPOD+AI   </a:t>
              </a:r>
              <a:r>
                <a:rPr lang="en-US" sz="1000" i="1" dirty="0">
                  <a:solidFill>
                    <a:srgbClr val="000000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Feature importance, penjelasan per pasien, dan pelaporan transparan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2.1  Justifikasi Teoretis Variabel Prediktor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1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3139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 Prediktor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Konstruk Teori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Mekanisme / Arah Hubungan dengan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 lanjut → cadangan fisiologis menurun, komplikasi, lama rawat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Variasi pola penyakit dan utilisasi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rawat JKN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 + Casemix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Menentukan akomodasi dan komponen tarif; proxy segmentasi peserta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4, 6, 33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Tipe admisi (elektif/emergensi)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Emergensi → intensitas &amp;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16, 33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Sumber admisi ICU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Pendukung (Andersen) + Struktur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Eskalasi dari bangsal → kompleksitas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33, 34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Durasi rawat pra-ICU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Struktur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Keterlambatan → disfungsi organ, intervensi agresif,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Ventilasi mekanik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(Donabedian) + 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Organ support; sedasi, monitoring → biaya ↑ (prediktor terkuat)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1–3,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Vasopresor/inotropik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Dekompensasi sirkulasi; akses sentral, monitoring invasif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3, 14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Transfusi darah (ya/tidak)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Perdarahan/anemia berat; fitur SHAP terpenting prediksi defisit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Pembedahan 24 jam (tidak/elektif/emergensi)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Prosedur → ventilasi, resusitasi, monitoring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10, 16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2.1  Justifikasi Teoretis Variabel Prediktor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2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2895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 Prediktor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Konstruk Teori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Mekanisme / Arah Hubungan dengan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Referensi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Jumlah organ support (0–3)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Proses + Kebutuhan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Proxy kompak intensitas perawatan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1–3,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Respirasi – SpO₂/FiO₂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 + Proses (Donabedian)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Hipoksemia/gagal napas → oksigen, ventilasi → biaya ↑; pengganti PaO₂/FiO₂ bebas AGD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Kardiovaskular – MAP + vasopresor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Hipotensi/syok → vasopresor, monitoring invasif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14, 18, 19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 saraf pusat – GCS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Penurunan kesadaran → proteksi jalan napas, ventilasi, monitoring →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Renal – kreatinin serum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Disfungsi ginjal akut → risiko RRT, lama rawat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18, 19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Hepar – ikterus klinis (mSOFA)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Disfungsi hepar → komplikasi, koagulopati → biaya ↑; pengganti bilirubin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Charlson Comorbidity Index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Predisposisi/Kebutuhan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Beban kronis → komplikasi, lama rawat, biaya ↑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indeks massa tubuh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Predisposisi (Andersen)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Ekstrem IMT → risiko &amp; kebutuhan perawatan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diagnosis utama (sistem organ)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Kebutuhan + Casemix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Proxy klinis CMG group; menentukan trajektori biaya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4, 10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3.1  Batasan Operasional Variabel Penelitian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1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2423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Batasan Operasional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Skala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Usia pasien pada saat masuk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Tahun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Jenis kelamin biologis pasien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Laki-laki/perempuan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rawat JKN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Kelas perawatan sesuai kepesertaan JKN yang ditetapkan saat admisi rumah sakit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administrasi SIM 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ordinal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1/2/3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Tipe admisi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Jalur masuk pasien ke ICU sebagaimana terdokumentasi saat admisi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Elektif/emergensi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Durasi rawat pra-ICU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Selisih waktu antara masuk rumah sakit dan masuk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Selisih timestamp rekam medis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Hari (desimal)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Ventilasi mekanik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ventilasi mekanik invasif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medis/penagihan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Vasopresor/inotropik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vasopresor dan/atau inotropik intravena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medis/penagihan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Transfusi darah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Pemberian komponen darah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Catatan bank darah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Ya/tidak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Pembedahan 24 jam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Tindakan pembedahan yang dilakukan dalam 24 jam pertama perawatan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kamar operasi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Tidak/elektif/emergensi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Tabel 3.1  Batasan Operasional Variabel Penelitian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Bagian 2 dari 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60704"/>
            <a:ext cx="11274552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3566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Variabel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Batasan Operasional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Skala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Ukur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Tekanan arteri rerata terendah yang terdokumentasi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observasi/monitor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mmHg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 SpO₂/FiO₂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 saturasi oksigen perifer terhadap fraksi oksigen inspirasi terendah dalam 24 jam pertama; pada pasien tanpa ventilasi mekanik, FiO₂ diestimasi dari laju aliran oksigen menggunakan tabel konversi baku dan jenis alat oksigen dicatat sebagai variabel pendamping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Rasio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GCS terendah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Glasgow Coma Scale terendah pada kondisi bebas sedasi dalam 24 jam pertama. Hierarki penilaian ditetapkan di muka: (1) nilai terendah saat pasien tidak tersedasi, termasuk saat sedation hold; (2) bila tersedasi sepanjang 24 jam, nilai terakhir sebelum sedasi dimulai; (3) bila keduanya tidak tersedia, dinyatakan hilang dan diimputasi disertai penanda “tidak dapat dinilai karena sedasi”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Lembar observasi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diskret/ordinal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3–15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Kreatinin tertinggi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Kadar kreatinin serum tertinggi dalam 24 jam pertama ICU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Hasil laboratorium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mg/dL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 diagnosis utama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Kelompok diagnosis utama saat masuk ICU menurut sistem organ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Rekam medis elektronik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Respirasi/kardiovaskular/neurologi/sepsis-infeksi/bedah-trauma/lain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tagihan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tagihan rumah sakit untuk seluruh episode rawat inap (pra-ICU, ICU, dan pasca-ICU) menurut tarif rumah sakit yang berlaku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Sistem informasi keuangan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Rupiah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Klaim INA-CBGs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Nilai klaim final yang dibayarkan BPJS Kesehatan untuk satu episode rawat inap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klaim BPJS/SIM RS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Numerik kontinu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Rupiah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Under-reimbursement (variabel dependen)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 total tagihan episode melebihi total klaim INA-CBGs episode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Perhitungan rasio tagihan terhadap klaim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Kategorik nominal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Ya (rasio &gt;1)/tidak (rasio ≤1)</a:t>
                      </a:r>
                      <a:endParaRPr lang="en-US" sz="9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45720" marR="4572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1465</Words>
  <Application>Microsoft Office PowerPoint</Application>
  <PresentationFormat>Widescreen</PresentationFormat>
  <Paragraphs>270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Nasywa Khairunnisa</cp:lastModifiedBy>
  <cp:revision>7</cp:revision>
  <dcterms:created xsi:type="dcterms:W3CDTF">2026-07-17T13:10:50Z</dcterms:created>
  <dcterms:modified xsi:type="dcterms:W3CDTF">2026-07-23T12:45:27Z</dcterms:modified>
</cp:coreProperties>
</file>