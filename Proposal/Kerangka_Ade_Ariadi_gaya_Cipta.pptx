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164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Kerangka &amp; Tabel Penelitian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154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Gambar 2.1, 2.2, 3.1, 3.2 dan Tabel 2.1, 3.1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Prediksi Under-Reimbursement antara Biaya Riil dan Klaim INA-CBGs pada Pasien ICU Dewasa (RSCM)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5943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91440" y="713232"/>
            <a:ext cx="11932920" cy="5367528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>
              <a:buNone/>
            </a:pPr>
            <a:endParaRPr lang="id-ID" sz="1200" dirty="0"/>
          </a:p>
        </p:txBody>
      </p:sp>
      <p:sp>
        <p:nvSpPr>
          <p:cNvPr id="3" name="Box 3"/>
          <p:cNvSpPr/>
          <p:nvPr/>
        </p:nvSpPr>
        <p:spPr>
          <a:xfrm>
            <a:off x="182880" y="274320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Model Utilisasi Pelayanan Kesehatan Andersen–Newman (1973)</a:t>
            </a:r>
          </a:p>
        </p:txBody>
      </p:sp>
      <p:sp>
        <p:nvSpPr>
          <p:cNvPr id="4" name="Box 4"/>
          <p:cNvSpPr/>
          <p:nvPr/>
        </p:nvSpPr>
        <p:spPr>
          <a:xfrm>
            <a:off x="5897880" y="274320"/>
            <a:ext cx="3017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i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Structure–Process–Outcome </a:t>
            </a: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(Donabedian, 1988)</a:t>
            </a:r>
          </a:p>
        </p:txBody>
      </p:sp>
      <p:sp>
        <p:nvSpPr>
          <p:cNvPr id="5" name="Box 5"/>
          <p:cNvSpPr/>
          <p:nvPr/>
        </p:nvSpPr>
        <p:spPr>
          <a:xfrm>
            <a:off x="9052560" y="274320"/>
            <a:ext cx="2834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Teori Pembayaran Prospektif / Casemix</a:t>
            </a:r>
          </a:p>
        </p:txBody>
      </p:sp>
      <p:sp>
        <p:nvSpPr>
          <p:cNvPr id="6" name="Box 6"/>
          <p:cNvSpPr/>
          <p:nvPr/>
        </p:nvSpPr>
        <p:spPr>
          <a:xfrm>
            <a:off x="182880" y="914400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Faktor Predisposisi</a:t>
            </a:r>
          </a:p>
        </p:txBody>
      </p:sp>
      <p:sp>
        <p:nvSpPr>
          <p:cNvPr id="7" name="Box 7"/>
          <p:cNvSpPr/>
          <p:nvPr/>
        </p:nvSpPr>
        <p:spPr>
          <a:xfrm>
            <a:off x="2103120" y="914400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Faktor Pendukung</a:t>
            </a:r>
          </a:p>
        </p:txBody>
      </p:sp>
      <p:sp>
        <p:nvSpPr>
          <p:cNvPr id="8" name="Box 8"/>
          <p:cNvSpPr/>
          <p:nvPr/>
        </p:nvSpPr>
        <p:spPr>
          <a:xfrm>
            <a:off x="4023360" y="914400"/>
            <a:ext cx="1691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Faktor Kebutuhan</a:t>
            </a:r>
          </a:p>
        </p:txBody>
      </p:sp>
      <p:sp>
        <p:nvSpPr>
          <p:cNvPr id="9" name="Box 9"/>
          <p:cNvSpPr/>
          <p:nvPr/>
        </p:nvSpPr>
        <p:spPr>
          <a:xfrm>
            <a:off x="5897880" y="914400"/>
            <a:ext cx="30175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Proses Pelayanan ICU 24 Jam Pertama</a:t>
            </a:r>
          </a:p>
        </p:txBody>
      </p:sp>
      <p:sp>
        <p:nvSpPr>
          <p:cNvPr id="10" name="Box 10"/>
          <p:cNvSpPr/>
          <p:nvPr/>
        </p:nvSpPr>
        <p:spPr>
          <a:xfrm>
            <a:off x="9052560" y="914400"/>
            <a:ext cx="2834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Penetapan Tarif Klaim INA-CBGs</a:t>
            </a:r>
          </a:p>
        </p:txBody>
      </p:sp>
      <p:sp>
        <p:nvSpPr>
          <p:cNvPr id="11" name="Ln 11"/>
          <p:cNvSpPr/>
          <p:nvPr/>
        </p:nvSpPr>
        <p:spPr>
          <a:xfrm>
            <a:off x="2948940" y="658368"/>
            <a:ext cx="0" cy="10972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Ln 12"/>
          <p:cNvSpPr/>
          <p:nvPr/>
        </p:nvSpPr>
        <p:spPr>
          <a:xfrm>
            <a:off x="1028700" y="768096"/>
            <a:ext cx="38404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3" name="Ln 13"/>
          <p:cNvSpPr/>
          <p:nvPr/>
        </p:nvSpPr>
        <p:spPr>
          <a:xfrm>
            <a:off x="1028700" y="768096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14" name="Ln 14"/>
          <p:cNvSpPr/>
          <p:nvPr/>
        </p:nvSpPr>
        <p:spPr>
          <a:xfrm>
            <a:off x="2948940" y="768096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15" name="Ln 15"/>
          <p:cNvSpPr/>
          <p:nvPr/>
        </p:nvSpPr>
        <p:spPr>
          <a:xfrm>
            <a:off x="4869180" y="768096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16" name="Ln 16"/>
          <p:cNvSpPr/>
          <p:nvPr/>
        </p:nvSpPr>
        <p:spPr>
          <a:xfrm>
            <a:off x="7406640" y="658368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17" name="Ln 17"/>
          <p:cNvSpPr/>
          <p:nvPr/>
        </p:nvSpPr>
        <p:spPr>
          <a:xfrm>
            <a:off x="10469880" y="658368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18" name="Ln 18"/>
          <p:cNvSpPr/>
          <p:nvPr/>
        </p:nvSpPr>
        <p:spPr>
          <a:xfrm>
            <a:off x="1028700" y="1261872"/>
            <a:ext cx="0" cy="12801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9" name="Ln 19"/>
          <p:cNvSpPr/>
          <p:nvPr/>
        </p:nvSpPr>
        <p:spPr>
          <a:xfrm flipH="1">
            <a:off x="274320" y="1389888"/>
            <a:ext cx="7543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0" name="Box 20"/>
          <p:cNvSpPr/>
          <p:nvPr/>
        </p:nvSpPr>
        <p:spPr>
          <a:xfrm>
            <a:off x="457200" y="1554480"/>
            <a:ext cx="13258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Usia</a:t>
            </a:r>
          </a:p>
        </p:txBody>
      </p:sp>
      <p:sp>
        <p:nvSpPr>
          <p:cNvPr id="21" name="Box 21"/>
          <p:cNvSpPr/>
          <p:nvPr/>
        </p:nvSpPr>
        <p:spPr>
          <a:xfrm>
            <a:off x="457200" y="1956816"/>
            <a:ext cx="13258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Jenis kelamin</a:t>
            </a:r>
          </a:p>
        </p:txBody>
      </p:sp>
      <p:sp>
        <p:nvSpPr>
          <p:cNvPr id="22" name="Ln 22"/>
          <p:cNvSpPr/>
          <p:nvPr/>
        </p:nvSpPr>
        <p:spPr>
          <a:xfrm>
            <a:off x="274320" y="1389888"/>
            <a:ext cx="0" cy="235915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3" name="Ln 23"/>
          <p:cNvSpPr/>
          <p:nvPr/>
        </p:nvSpPr>
        <p:spPr>
          <a:xfrm>
            <a:off x="274320" y="1709928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24" name="Ln 24"/>
          <p:cNvSpPr/>
          <p:nvPr/>
        </p:nvSpPr>
        <p:spPr>
          <a:xfrm>
            <a:off x="274320" y="2112264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25" name="Ln 25"/>
          <p:cNvSpPr/>
          <p:nvPr/>
        </p:nvSpPr>
        <p:spPr>
          <a:xfrm>
            <a:off x="2948940" y="1261872"/>
            <a:ext cx="0" cy="12801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6" name="Ln 26"/>
          <p:cNvSpPr/>
          <p:nvPr/>
        </p:nvSpPr>
        <p:spPr>
          <a:xfrm flipH="1">
            <a:off x="2194560" y="1389888"/>
            <a:ext cx="7543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7" name="Box 27"/>
          <p:cNvSpPr/>
          <p:nvPr/>
        </p:nvSpPr>
        <p:spPr>
          <a:xfrm>
            <a:off x="2377440" y="1554480"/>
            <a:ext cx="13258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Kelas rawat JKN</a:t>
            </a:r>
          </a:p>
        </p:txBody>
      </p:sp>
      <p:sp>
        <p:nvSpPr>
          <p:cNvPr id="28" name="Box 28"/>
          <p:cNvSpPr/>
          <p:nvPr/>
        </p:nvSpPr>
        <p:spPr>
          <a:xfrm>
            <a:off x="2377440" y="1956816"/>
            <a:ext cx="13258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Tipe admisi ICU</a:t>
            </a:r>
          </a:p>
        </p:txBody>
      </p:sp>
      <p:sp>
        <p:nvSpPr>
          <p:cNvPr id="29" name="Box 29"/>
          <p:cNvSpPr/>
          <p:nvPr/>
        </p:nvSpPr>
        <p:spPr>
          <a:xfrm>
            <a:off x="2377440" y="2359152"/>
            <a:ext cx="13258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Durasi rawat pra-ICU</a:t>
            </a:r>
          </a:p>
        </p:txBody>
      </p:sp>
      <p:sp>
        <p:nvSpPr>
          <p:cNvPr id="30" name="Ln 30"/>
          <p:cNvSpPr/>
          <p:nvPr/>
        </p:nvSpPr>
        <p:spPr>
          <a:xfrm>
            <a:off x="2194560" y="1389888"/>
            <a:ext cx="0" cy="235915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1" name="Ln 31"/>
          <p:cNvSpPr/>
          <p:nvPr/>
        </p:nvSpPr>
        <p:spPr>
          <a:xfrm>
            <a:off x="2194560" y="1709928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32" name="Ln 32"/>
          <p:cNvSpPr/>
          <p:nvPr/>
        </p:nvSpPr>
        <p:spPr>
          <a:xfrm>
            <a:off x="2194560" y="2112264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33" name="Ln 33"/>
          <p:cNvSpPr/>
          <p:nvPr/>
        </p:nvSpPr>
        <p:spPr>
          <a:xfrm>
            <a:off x="2194560" y="2514600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34" name="Ln 34"/>
          <p:cNvSpPr/>
          <p:nvPr/>
        </p:nvSpPr>
        <p:spPr>
          <a:xfrm>
            <a:off x="4869180" y="1261872"/>
            <a:ext cx="0" cy="12801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5" name="Ln 35"/>
          <p:cNvSpPr/>
          <p:nvPr/>
        </p:nvSpPr>
        <p:spPr>
          <a:xfrm flipH="1">
            <a:off x="4114800" y="1389888"/>
            <a:ext cx="7543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6" name="Box 36"/>
          <p:cNvSpPr/>
          <p:nvPr/>
        </p:nvSpPr>
        <p:spPr>
          <a:xfrm>
            <a:off x="4297680" y="1554480"/>
            <a:ext cx="13258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MAP terendah</a:t>
            </a:r>
          </a:p>
        </p:txBody>
      </p:sp>
      <p:sp>
        <p:nvSpPr>
          <p:cNvPr id="37" name="Box 37"/>
          <p:cNvSpPr/>
          <p:nvPr/>
        </p:nvSpPr>
        <p:spPr>
          <a:xfrm>
            <a:off x="4297680" y="1956816"/>
            <a:ext cx="13258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Rasio SpO₂/FiO₂ terendah</a:t>
            </a:r>
          </a:p>
        </p:txBody>
      </p:sp>
      <p:sp>
        <p:nvSpPr>
          <p:cNvPr id="38" name="Box 38"/>
          <p:cNvSpPr/>
          <p:nvPr/>
        </p:nvSpPr>
        <p:spPr>
          <a:xfrm>
            <a:off x="4297680" y="2359152"/>
            <a:ext cx="13258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GCS terendah</a:t>
            </a:r>
          </a:p>
        </p:txBody>
      </p:sp>
      <p:sp>
        <p:nvSpPr>
          <p:cNvPr id="39" name="Box 39"/>
          <p:cNvSpPr/>
          <p:nvPr/>
        </p:nvSpPr>
        <p:spPr>
          <a:xfrm>
            <a:off x="4297680" y="2761488"/>
            <a:ext cx="13258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Kreatinin serum tertinggi</a:t>
            </a:r>
          </a:p>
        </p:txBody>
      </p:sp>
      <p:sp>
        <p:nvSpPr>
          <p:cNvPr id="40" name="Box 40"/>
          <p:cNvSpPr/>
          <p:nvPr/>
        </p:nvSpPr>
        <p:spPr>
          <a:xfrm>
            <a:off x="4297680" y="3163824"/>
            <a:ext cx="13258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Kategori diagnosis utama</a:t>
            </a:r>
          </a:p>
        </p:txBody>
      </p:sp>
      <p:sp>
        <p:nvSpPr>
          <p:cNvPr id="41" name="Ln 41"/>
          <p:cNvSpPr/>
          <p:nvPr/>
        </p:nvSpPr>
        <p:spPr>
          <a:xfrm>
            <a:off x="4114800" y="1389888"/>
            <a:ext cx="0" cy="235915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2" name="Ln 42"/>
          <p:cNvSpPr/>
          <p:nvPr/>
        </p:nvSpPr>
        <p:spPr>
          <a:xfrm>
            <a:off x="4114800" y="1709928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43" name="Ln 43"/>
          <p:cNvSpPr/>
          <p:nvPr/>
        </p:nvSpPr>
        <p:spPr>
          <a:xfrm>
            <a:off x="4114800" y="2112264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44" name="Ln 44"/>
          <p:cNvSpPr/>
          <p:nvPr/>
        </p:nvSpPr>
        <p:spPr>
          <a:xfrm>
            <a:off x="4114800" y="2514600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45" name="Ln 45"/>
          <p:cNvSpPr/>
          <p:nvPr/>
        </p:nvSpPr>
        <p:spPr>
          <a:xfrm>
            <a:off x="4114800" y="2916936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46" name="Ln 46"/>
          <p:cNvSpPr/>
          <p:nvPr/>
        </p:nvSpPr>
        <p:spPr>
          <a:xfrm>
            <a:off x="4114800" y="3319272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47" name="Ln 47"/>
          <p:cNvSpPr/>
          <p:nvPr/>
        </p:nvSpPr>
        <p:spPr>
          <a:xfrm>
            <a:off x="7406640" y="1261872"/>
            <a:ext cx="0" cy="12801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8" name="Ln 48"/>
          <p:cNvSpPr/>
          <p:nvPr/>
        </p:nvSpPr>
        <p:spPr>
          <a:xfrm flipH="1">
            <a:off x="6126480" y="1389888"/>
            <a:ext cx="12801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9" name="Box 49"/>
          <p:cNvSpPr/>
          <p:nvPr/>
        </p:nvSpPr>
        <p:spPr>
          <a:xfrm>
            <a:off x="6309360" y="1554480"/>
            <a:ext cx="21031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Ventilasi mekanik invasif</a:t>
            </a:r>
          </a:p>
        </p:txBody>
      </p:sp>
      <p:sp>
        <p:nvSpPr>
          <p:cNvPr id="50" name="Box 50"/>
          <p:cNvSpPr/>
          <p:nvPr/>
        </p:nvSpPr>
        <p:spPr>
          <a:xfrm>
            <a:off x="6309360" y="1956816"/>
            <a:ext cx="21031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Vasopresor / inotropik</a:t>
            </a:r>
          </a:p>
        </p:txBody>
      </p:sp>
      <p:sp>
        <p:nvSpPr>
          <p:cNvPr id="51" name="Box 51"/>
          <p:cNvSpPr/>
          <p:nvPr/>
        </p:nvSpPr>
        <p:spPr>
          <a:xfrm>
            <a:off x="6309360" y="2359152"/>
            <a:ext cx="21031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Transfusi darah</a:t>
            </a:r>
          </a:p>
        </p:txBody>
      </p:sp>
      <p:sp>
        <p:nvSpPr>
          <p:cNvPr id="52" name="Box 52"/>
          <p:cNvSpPr/>
          <p:nvPr/>
        </p:nvSpPr>
        <p:spPr>
          <a:xfrm>
            <a:off x="6309360" y="2761488"/>
            <a:ext cx="21031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Pembedahan dalam 24 jam</a:t>
            </a:r>
          </a:p>
        </p:txBody>
      </p:sp>
      <p:sp>
        <p:nvSpPr>
          <p:cNvPr id="53" name="Ln 53"/>
          <p:cNvSpPr/>
          <p:nvPr/>
        </p:nvSpPr>
        <p:spPr>
          <a:xfrm>
            <a:off x="6126480" y="1389888"/>
            <a:ext cx="0" cy="235915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4" name="Ln 54"/>
          <p:cNvSpPr/>
          <p:nvPr/>
        </p:nvSpPr>
        <p:spPr>
          <a:xfrm>
            <a:off x="6126480" y="1709928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55" name="Ln 55"/>
          <p:cNvSpPr/>
          <p:nvPr/>
        </p:nvSpPr>
        <p:spPr>
          <a:xfrm>
            <a:off x="6126480" y="2112264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56" name="Ln 56"/>
          <p:cNvSpPr/>
          <p:nvPr/>
        </p:nvSpPr>
        <p:spPr>
          <a:xfrm>
            <a:off x="6126480" y="2514600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57" name="Ln 57"/>
          <p:cNvSpPr/>
          <p:nvPr/>
        </p:nvSpPr>
        <p:spPr>
          <a:xfrm>
            <a:off x="6126480" y="2916936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58" name="Ln 58"/>
          <p:cNvSpPr/>
          <p:nvPr/>
        </p:nvSpPr>
        <p:spPr>
          <a:xfrm>
            <a:off x="10469880" y="1261872"/>
            <a:ext cx="0" cy="12801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9" name="Ln 59"/>
          <p:cNvSpPr/>
          <p:nvPr/>
        </p:nvSpPr>
        <p:spPr>
          <a:xfrm flipH="1">
            <a:off x="9189720" y="1389888"/>
            <a:ext cx="12801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0" name="Box 60"/>
          <p:cNvSpPr/>
          <p:nvPr/>
        </p:nvSpPr>
        <p:spPr>
          <a:xfrm>
            <a:off x="9372600" y="1554480"/>
            <a:ext cx="2331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Tarif paket per episode rawat</a:t>
            </a:r>
          </a:p>
        </p:txBody>
      </p:sp>
      <p:sp>
        <p:nvSpPr>
          <p:cNvPr id="61" name="Box 61"/>
          <p:cNvSpPr/>
          <p:nvPr/>
        </p:nvSpPr>
        <p:spPr>
          <a:xfrm>
            <a:off x="9372600" y="1956816"/>
            <a:ext cx="2331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Severity level &amp; CMG final</a:t>
            </a:r>
          </a:p>
        </p:txBody>
      </p:sp>
      <p:sp>
        <p:nvSpPr>
          <p:cNvPr id="62" name="Ln 62"/>
          <p:cNvSpPr/>
          <p:nvPr/>
        </p:nvSpPr>
        <p:spPr>
          <a:xfrm>
            <a:off x="9189720" y="1389888"/>
            <a:ext cx="0" cy="258775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63" name="Ln 63"/>
          <p:cNvSpPr/>
          <p:nvPr/>
        </p:nvSpPr>
        <p:spPr>
          <a:xfrm>
            <a:off x="9189720" y="1709928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64" name="Ln 64"/>
          <p:cNvSpPr/>
          <p:nvPr/>
        </p:nvSpPr>
        <p:spPr>
          <a:xfrm>
            <a:off x="9189720" y="2112264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65" name="Ln 65"/>
          <p:cNvSpPr/>
          <p:nvPr/>
        </p:nvSpPr>
        <p:spPr>
          <a:xfrm>
            <a:off x="274320" y="3749040"/>
            <a:ext cx="58521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6" name="Ln 66"/>
          <p:cNvSpPr/>
          <p:nvPr/>
        </p:nvSpPr>
        <p:spPr>
          <a:xfrm>
            <a:off x="3200400" y="374904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67" name="Box 67"/>
          <p:cNvSpPr/>
          <p:nvPr/>
        </p:nvSpPr>
        <p:spPr>
          <a:xfrm>
            <a:off x="2011680" y="3977640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Biaya riil episode rawat inap</a:t>
            </a:r>
          </a:p>
        </p:txBody>
      </p:sp>
      <p:sp>
        <p:nvSpPr>
          <p:cNvPr id="68" name="Box 68"/>
          <p:cNvSpPr/>
          <p:nvPr/>
        </p:nvSpPr>
        <p:spPr>
          <a:xfrm>
            <a:off x="8001000" y="3977640"/>
            <a:ext cx="2377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Besaran klaim INA-CBGs</a:t>
            </a:r>
          </a:p>
        </p:txBody>
      </p:sp>
      <p:sp>
        <p:nvSpPr>
          <p:cNvPr id="69" name="Ln 69"/>
          <p:cNvSpPr/>
          <p:nvPr/>
        </p:nvSpPr>
        <p:spPr>
          <a:xfrm>
            <a:off x="3200400" y="4379976"/>
            <a:ext cx="0" cy="16459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0" name="Ln 70"/>
          <p:cNvSpPr/>
          <p:nvPr/>
        </p:nvSpPr>
        <p:spPr>
          <a:xfrm>
            <a:off x="9189720" y="4379976"/>
            <a:ext cx="0" cy="16459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1" name="Ln 71"/>
          <p:cNvSpPr/>
          <p:nvPr/>
        </p:nvSpPr>
        <p:spPr>
          <a:xfrm>
            <a:off x="3200400" y="4544568"/>
            <a:ext cx="5989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2" name="Ln 72"/>
          <p:cNvSpPr/>
          <p:nvPr/>
        </p:nvSpPr>
        <p:spPr>
          <a:xfrm>
            <a:off x="6126480" y="4544568"/>
            <a:ext cx="0" cy="16459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73" name="Box 73"/>
          <p:cNvSpPr/>
          <p:nvPr/>
        </p:nvSpPr>
        <p:spPr>
          <a:xfrm>
            <a:off x="4160520" y="4709160"/>
            <a:ext cx="3931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Rasio biaya riil : klaim INA-CBGs</a:t>
            </a:r>
          </a:p>
        </p:txBody>
      </p:sp>
      <p:sp>
        <p:nvSpPr>
          <p:cNvPr id="74" name="Ln 74"/>
          <p:cNvSpPr/>
          <p:nvPr/>
        </p:nvSpPr>
        <p:spPr>
          <a:xfrm>
            <a:off x="6126480" y="5111496"/>
            <a:ext cx="0" cy="28346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75" name="Box 75"/>
          <p:cNvSpPr/>
          <p:nvPr/>
        </p:nvSpPr>
        <p:spPr>
          <a:xfrm>
            <a:off x="3794760" y="5394960"/>
            <a:ext cx="46634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i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UNDER-REIMBURSEMENT</a:t>
            </a:r>
          </a:p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rasio 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&lt;</a:t>
            </a: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 1 (luaran primer)</a:t>
            </a:r>
          </a:p>
        </p:txBody>
      </p:sp>
      <p:sp>
        <p:nvSpPr>
          <p:cNvPr id="76" name="Box 76"/>
          <p:cNvSpPr/>
          <p:nvPr/>
        </p:nvSpPr>
        <p:spPr>
          <a:xfrm>
            <a:off x="502920" y="5394960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i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Model Machine Learning</a:t>
            </a:r>
          </a:p>
          <a:p>
            <a:pPr marL="0" indent="0" algn="ctr">
              <a:lnSpc>
                <a:spcPct val="88000"/>
              </a:lnSpc>
              <a:buNone/>
            </a:pPr>
            <a:r>
              <a:rPr lang="id-ID" sz="1200" i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XGBoost · Random Forest · Elastic Net</a:t>
            </a:r>
          </a:p>
        </p:txBody>
      </p:sp>
      <p:sp>
        <p:nvSpPr>
          <p:cNvPr id="77" name="Ln 77"/>
          <p:cNvSpPr/>
          <p:nvPr/>
        </p:nvSpPr>
        <p:spPr>
          <a:xfrm>
            <a:off x="274320" y="3749040"/>
            <a:ext cx="0" cy="187452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8" name="Ln 78"/>
          <p:cNvSpPr/>
          <p:nvPr/>
        </p:nvSpPr>
        <p:spPr>
          <a:xfrm>
            <a:off x="274320" y="562356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79" name="Ln 79"/>
          <p:cNvSpPr/>
          <p:nvPr/>
        </p:nvSpPr>
        <p:spPr>
          <a:xfrm>
            <a:off x="3154680" y="5623560"/>
            <a:ext cx="640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80" name="Txt 80"/>
          <p:cNvSpPr/>
          <p:nvPr/>
        </p:nvSpPr>
        <p:spPr>
          <a:xfrm>
            <a:off x="137160" y="6163056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8000"/>
              </a:lnSpc>
              <a:buNone/>
            </a:pPr>
            <a:r>
              <a:rPr lang="id-ID" sz="1200" i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- - -  Garis putus-putus merah: variabel yang dioperasionalkan dalam penelitian 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4480560" y="274320"/>
            <a:ext cx="3246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Pasien ICU dewasa peserta JKN</a:t>
            </a:r>
          </a:p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dirawat ≥ 24 jam</a:t>
            </a:r>
          </a:p>
        </p:txBody>
      </p:sp>
      <p:sp>
        <p:nvSpPr>
          <p:cNvPr id="3" name="Ln 3"/>
          <p:cNvSpPr/>
          <p:nvPr/>
        </p:nvSpPr>
        <p:spPr>
          <a:xfrm>
            <a:off x="6103620" y="676656"/>
            <a:ext cx="0" cy="14630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Ln 4"/>
          <p:cNvSpPr/>
          <p:nvPr/>
        </p:nvSpPr>
        <p:spPr>
          <a:xfrm>
            <a:off x="1554480" y="822960"/>
            <a:ext cx="90525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" name="Ln 5"/>
          <p:cNvSpPr/>
          <p:nvPr/>
        </p:nvSpPr>
        <p:spPr>
          <a:xfrm>
            <a:off x="1554480" y="822960"/>
            <a:ext cx="0" cy="13716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6" name="Ln 6"/>
          <p:cNvSpPr/>
          <p:nvPr/>
        </p:nvSpPr>
        <p:spPr>
          <a:xfrm>
            <a:off x="4572000" y="822960"/>
            <a:ext cx="0" cy="13716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7" name="Ln 7"/>
          <p:cNvSpPr/>
          <p:nvPr/>
        </p:nvSpPr>
        <p:spPr>
          <a:xfrm>
            <a:off x="7589520" y="822960"/>
            <a:ext cx="0" cy="13716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8" name="Ln 8"/>
          <p:cNvSpPr/>
          <p:nvPr/>
        </p:nvSpPr>
        <p:spPr>
          <a:xfrm>
            <a:off x="10607040" y="822960"/>
            <a:ext cx="0" cy="13716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9" name="Box 9"/>
          <p:cNvSpPr/>
          <p:nvPr/>
        </p:nvSpPr>
        <p:spPr>
          <a:xfrm>
            <a:off x="228600" y="960120"/>
            <a:ext cx="26517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Domain Demografi &amp; Administratif</a:t>
            </a:r>
          </a:p>
        </p:txBody>
      </p:sp>
      <p:sp>
        <p:nvSpPr>
          <p:cNvPr id="10" name="Box 10"/>
          <p:cNvSpPr/>
          <p:nvPr/>
        </p:nvSpPr>
        <p:spPr>
          <a:xfrm>
            <a:off x="3246120" y="960120"/>
            <a:ext cx="26517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Domain Intervensi 24 Jam</a:t>
            </a:r>
          </a:p>
        </p:txBody>
      </p:sp>
      <p:sp>
        <p:nvSpPr>
          <p:cNvPr id="11" name="Box 11"/>
          <p:cNvSpPr/>
          <p:nvPr/>
        </p:nvSpPr>
        <p:spPr>
          <a:xfrm>
            <a:off x="6263640" y="960120"/>
            <a:ext cx="26517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Domain Disfungsi Organ</a:t>
            </a:r>
          </a:p>
        </p:txBody>
      </p:sp>
      <p:sp>
        <p:nvSpPr>
          <p:cNvPr id="12" name="Box 12"/>
          <p:cNvSpPr/>
          <p:nvPr/>
        </p:nvSpPr>
        <p:spPr>
          <a:xfrm>
            <a:off x="9281160" y="960120"/>
            <a:ext cx="26517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Domain Kasus</a:t>
            </a:r>
          </a:p>
        </p:txBody>
      </p:sp>
      <p:sp>
        <p:nvSpPr>
          <p:cNvPr id="13" name="Ln 13"/>
          <p:cNvSpPr/>
          <p:nvPr/>
        </p:nvSpPr>
        <p:spPr>
          <a:xfrm>
            <a:off x="1554480" y="1289304"/>
            <a:ext cx="0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4" name="Ln 14"/>
          <p:cNvSpPr/>
          <p:nvPr/>
        </p:nvSpPr>
        <p:spPr>
          <a:xfrm flipH="1">
            <a:off x="274320" y="1371600"/>
            <a:ext cx="12801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5" name="Box 15"/>
          <p:cNvSpPr/>
          <p:nvPr/>
        </p:nvSpPr>
        <p:spPr>
          <a:xfrm>
            <a:off x="457200" y="1508760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Usia</a:t>
            </a:r>
          </a:p>
        </p:txBody>
      </p:sp>
      <p:sp>
        <p:nvSpPr>
          <p:cNvPr id="16" name="Box 16"/>
          <p:cNvSpPr/>
          <p:nvPr/>
        </p:nvSpPr>
        <p:spPr>
          <a:xfrm>
            <a:off x="457200" y="1911096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Jenis kelamin</a:t>
            </a:r>
          </a:p>
        </p:txBody>
      </p:sp>
      <p:sp>
        <p:nvSpPr>
          <p:cNvPr id="17" name="Box 17"/>
          <p:cNvSpPr/>
          <p:nvPr/>
        </p:nvSpPr>
        <p:spPr>
          <a:xfrm>
            <a:off x="457200" y="2313432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Kelas rawat JKN</a:t>
            </a:r>
          </a:p>
        </p:txBody>
      </p:sp>
      <p:sp>
        <p:nvSpPr>
          <p:cNvPr id="18" name="Box 18"/>
          <p:cNvSpPr/>
          <p:nvPr/>
        </p:nvSpPr>
        <p:spPr>
          <a:xfrm>
            <a:off x="457200" y="2715768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Tipe admisi ICU</a:t>
            </a:r>
          </a:p>
        </p:txBody>
      </p:sp>
      <p:sp>
        <p:nvSpPr>
          <p:cNvPr id="19" name="Box 19"/>
          <p:cNvSpPr/>
          <p:nvPr/>
        </p:nvSpPr>
        <p:spPr>
          <a:xfrm>
            <a:off x="457200" y="3118104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Durasi rawat pra-ICU</a:t>
            </a:r>
          </a:p>
        </p:txBody>
      </p:sp>
      <p:sp>
        <p:nvSpPr>
          <p:cNvPr id="20" name="Ln 20"/>
          <p:cNvSpPr/>
          <p:nvPr/>
        </p:nvSpPr>
        <p:spPr>
          <a:xfrm>
            <a:off x="274320" y="1371600"/>
            <a:ext cx="0" cy="22402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1" name="Ln 21"/>
          <p:cNvSpPr/>
          <p:nvPr/>
        </p:nvSpPr>
        <p:spPr>
          <a:xfrm>
            <a:off x="274320" y="1664208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22" name="Ln 22"/>
          <p:cNvSpPr/>
          <p:nvPr/>
        </p:nvSpPr>
        <p:spPr>
          <a:xfrm>
            <a:off x="274320" y="2066544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23" name="Ln 23"/>
          <p:cNvSpPr/>
          <p:nvPr/>
        </p:nvSpPr>
        <p:spPr>
          <a:xfrm>
            <a:off x="274320" y="2468880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24" name="Ln 24"/>
          <p:cNvSpPr/>
          <p:nvPr/>
        </p:nvSpPr>
        <p:spPr>
          <a:xfrm>
            <a:off x="274320" y="2871216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25" name="Ln 25"/>
          <p:cNvSpPr/>
          <p:nvPr/>
        </p:nvSpPr>
        <p:spPr>
          <a:xfrm>
            <a:off x="274320" y="3273552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26" name="Ln 26"/>
          <p:cNvSpPr/>
          <p:nvPr/>
        </p:nvSpPr>
        <p:spPr>
          <a:xfrm>
            <a:off x="4572000" y="1289304"/>
            <a:ext cx="0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7" name="Ln 27"/>
          <p:cNvSpPr/>
          <p:nvPr/>
        </p:nvSpPr>
        <p:spPr>
          <a:xfrm flipH="1">
            <a:off x="3291840" y="1371600"/>
            <a:ext cx="12801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8" name="Box 28"/>
          <p:cNvSpPr/>
          <p:nvPr/>
        </p:nvSpPr>
        <p:spPr>
          <a:xfrm>
            <a:off x="3474720" y="1508760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Ventilasi mekanik invasif</a:t>
            </a:r>
          </a:p>
        </p:txBody>
      </p:sp>
      <p:sp>
        <p:nvSpPr>
          <p:cNvPr id="29" name="Box 29"/>
          <p:cNvSpPr/>
          <p:nvPr/>
        </p:nvSpPr>
        <p:spPr>
          <a:xfrm>
            <a:off x="3474720" y="1911096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Vasopresor / inotropik</a:t>
            </a:r>
          </a:p>
        </p:txBody>
      </p:sp>
      <p:sp>
        <p:nvSpPr>
          <p:cNvPr id="30" name="Box 30"/>
          <p:cNvSpPr/>
          <p:nvPr/>
        </p:nvSpPr>
        <p:spPr>
          <a:xfrm>
            <a:off x="3474720" y="2313432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Transfusi darah</a:t>
            </a:r>
          </a:p>
        </p:txBody>
      </p:sp>
      <p:sp>
        <p:nvSpPr>
          <p:cNvPr id="31" name="Box 31"/>
          <p:cNvSpPr/>
          <p:nvPr/>
        </p:nvSpPr>
        <p:spPr>
          <a:xfrm>
            <a:off x="3474720" y="2715768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Pembedahan dalam 24 jam</a:t>
            </a:r>
          </a:p>
        </p:txBody>
      </p:sp>
      <p:sp>
        <p:nvSpPr>
          <p:cNvPr id="32" name="Ln 32"/>
          <p:cNvSpPr/>
          <p:nvPr/>
        </p:nvSpPr>
        <p:spPr>
          <a:xfrm>
            <a:off x="3291840" y="1371600"/>
            <a:ext cx="0" cy="22402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3" name="Ln 33"/>
          <p:cNvSpPr/>
          <p:nvPr/>
        </p:nvSpPr>
        <p:spPr>
          <a:xfrm>
            <a:off x="3291840" y="1664208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34" name="Ln 34"/>
          <p:cNvSpPr/>
          <p:nvPr/>
        </p:nvSpPr>
        <p:spPr>
          <a:xfrm>
            <a:off x="3291840" y="2066544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35" name="Ln 35"/>
          <p:cNvSpPr/>
          <p:nvPr/>
        </p:nvSpPr>
        <p:spPr>
          <a:xfrm>
            <a:off x="3291840" y="2468880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36" name="Ln 36"/>
          <p:cNvSpPr/>
          <p:nvPr/>
        </p:nvSpPr>
        <p:spPr>
          <a:xfrm>
            <a:off x="3291840" y="2871216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37" name="Ln 37"/>
          <p:cNvSpPr/>
          <p:nvPr/>
        </p:nvSpPr>
        <p:spPr>
          <a:xfrm>
            <a:off x="7589520" y="1289304"/>
            <a:ext cx="0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8" name="Ln 38"/>
          <p:cNvSpPr/>
          <p:nvPr/>
        </p:nvSpPr>
        <p:spPr>
          <a:xfrm flipH="1">
            <a:off x="6309360" y="1371600"/>
            <a:ext cx="12801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9" name="Box 39"/>
          <p:cNvSpPr/>
          <p:nvPr/>
        </p:nvSpPr>
        <p:spPr>
          <a:xfrm>
            <a:off x="6492240" y="1508760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MAP terendah</a:t>
            </a:r>
          </a:p>
        </p:txBody>
      </p:sp>
      <p:sp>
        <p:nvSpPr>
          <p:cNvPr id="40" name="Box 40"/>
          <p:cNvSpPr/>
          <p:nvPr/>
        </p:nvSpPr>
        <p:spPr>
          <a:xfrm>
            <a:off x="6492240" y="1911096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Rasio SpO₂/FiO₂ terendah</a:t>
            </a:r>
          </a:p>
        </p:txBody>
      </p:sp>
      <p:sp>
        <p:nvSpPr>
          <p:cNvPr id="41" name="Box 41"/>
          <p:cNvSpPr/>
          <p:nvPr/>
        </p:nvSpPr>
        <p:spPr>
          <a:xfrm>
            <a:off x="6492240" y="2313432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GCS terendah</a:t>
            </a:r>
          </a:p>
        </p:txBody>
      </p:sp>
      <p:sp>
        <p:nvSpPr>
          <p:cNvPr id="42" name="Box 42"/>
          <p:cNvSpPr/>
          <p:nvPr/>
        </p:nvSpPr>
        <p:spPr>
          <a:xfrm>
            <a:off x="6492240" y="2715768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Kreatinin serum tertinggi</a:t>
            </a:r>
          </a:p>
        </p:txBody>
      </p:sp>
      <p:sp>
        <p:nvSpPr>
          <p:cNvPr id="43" name="Ln 43"/>
          <p:cNvSpPr/>
          <p:nvPr/>
        </p:nvSpPr>
        <p:spPr>
          <a:xfrm>
            <a:off x="6309360" y="1371600"/>
            <a:ext cx="0" cy="22402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4" name="Ln 44"/>
          <p:cNvSpPr/>
          <p:nvPr/>
        </p:nvSpPr>
        <p:spPr>
          <a:xfrm>
            <a:off x="6309360" y="1664208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45" name="Ln 45"/>
          <p:cNvSpPr/>
          <p:nvPr/>
        </p:nvSpPr>
        <p:spPr>
          <a:xfrm>
            <a:off x="6309360" y="2066544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46" name="Ln 46"/>
          <p:cNvSpPr/>
          <p:nvPr/>
        </p:nvSpPr>
        <p:spPr>
          <a:xfrm>
            <a:off x="6309360" y="2468880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47" name="Ln 47"/>
          <p:cNvSpPr/>
          <p:nvPr/>
        </p:nvSpPr>
        <p:spPr>
          <a:xfrm>
            <a:off x="6309360" y="2871216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48" name="Ln 48"/>
          <p:cNvSpPr/>
          <p:nvPr/>
        </p:nvSpPr>
        <p:spPr>
          <a:xfrm>
            <a:off x="10607040" y="1289304"/>
            <a:ext cx="0" cy="8229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9" name="Ln 49"/>
          <p:cNvSpPr/>
          <p:nvPr/>
        </p:nvSpPr>
        <p:spPr>
          <a:xfrm flipH="1">
            <a:off x="9326880" y="1371600"/>
            <a:ext cx="12801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0" name="Box 50"/>
          <p:cNvSpPr/>
          <p:nvPr/>
        </p:nvSpPr>
        <p:spPr>
          <a:xfrm>
            <a:off x="9509760" y="1508760"/>
            <a:ext cx="22860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Kategori diagnosis utama menurut sistem organ</a:t>
            </a:r>
          </a:p>
        </p:txBody>
      </p:sp>
      <p:sp>
        <p:nvSpPr>
          <p:cNvPr id="51" name="Ln 51"/>
          <p:cNvSpPr/>
          <p:nvPr/>
        </p:nvSpPr>
        <p:spPr>
          <a:xfrm>
            <a:off x="9326880" y="1371600"/>
            <a:ext cx="0" cy="22402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2" name="Ln 52"/>
          <p:cNvSpPr/>
          <p:nvPr/>
        </p:nvSpPr>
        <p:spPr>
          <a:xfrm>
            <a:off x="9326880" y="1664208"/>
            <a:ext cx="1828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53" name="Ln 53"/>
          <p:cNvSpPr/>
          <p:nvPr/>
        </p:nvSpPr>
        <p:spPr>
          <a:xfrm>
            <a:off x="274320" y="3611880"/>
            <a:ext cx="90525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4" name="Ln 54"/>
          <p:cNvSpPr/>
          <p:nvPr/>
        </p:nvSpPr>
        <p:spPr>
          <a:xfrm>
            <a:off x="6080760" y="361188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55" name="Box 55"/>
          <p:cNvSpPr/>
          <p:nvPr/>
        </p:nvSpPr>
        <p:spPr>
          <a:xfrm>
            <a:off x="4434840" y="384048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Model Machine Learning</a:t>
            </a:r>
          </a:p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XGBoost · Random Forest · Elastic Net</a:t>
            </a:r>
          </a:p>
        </p:txBody>
      </p:sp>
      <p:sp>
        <p:nvSpPr>
          <p:cNvPr id="56" name="Ln 56"/>
          <p:cNvSpPr/>
          <p:nvPr/>
        </p:nvSpPr>
        <p:spPr>
          <a:xfrm>
            <a:off x="6080760" y="4407408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57" name="Box 57"/>
          <p:cNvSpPr/>
          <p:nvPr/>
        </p:nvSpPr>
        <p:spPr>
          <a:xfrm>
            <a:off x="4434840" y="4663440"/>
            <a:ext cx="3291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Prediksi probabilitas under-reimbursement</a:t>
            </a:r>
          </a:p>
        </p:txBody>
      </p:sp>
      <p:sp>
        <p:nvSpPr>
          <p:cNvPr id="58" name="Ln 58"/>
          <p:cNvSpPr/>
          <p:nvPr/>
        </p:nvSpPr>
        <p:spPr>
          <a:xfrm>
            <a:off x="6080760" y="502920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59" name="Box 59"/>
          <p:cNvSpPr/>
          <p:nvPr/>
        </p:nvSpPr>
        <p:spPr>
          <a:xfrm>
            <a:off x="3291840" y="5257800"/>
            <a:ext cx="55778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id-ID" sz="1200" b="1" u="sng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Variabel Tergantung</a:t>
            </a:r>
          </a:p>
          <a:p>
            <a:pPr algn="ctr"/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Luaran primer: rasio biaya riil : klaim INA-CBGs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&lt;</a:t>
            </a: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 1</a:t>
            </a:r>
          </a:p>
        </p:txBody>
      </p:sp>
      <p:sp>
        <p:nvSpPr>
          <p:cNvPr id="64" name="Txt 64"/>
          <p:cNvSpPr/>
          <p:nvPr/>
        </p:nvSpPr>
        <p:spPr>
          <a:xfrm>
            <a:off x="274320" y="6016752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Keterangan:</a:t>
            </a:r>
          </a:p>
        </p:txBody>
      </p:sp>
      <p:sp>
        <p:nvSpPr>
          <p:cNvPr id="65" name="Box 65"/>
          <p:cNvSpPr/>
          <p:nvPr/>
        </p:nvSpPr>
        <p:spPr>
          <a:xfrm>
            <a:off x="1234440" y="6016752"/>
            <a:ext cx="4572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>
              <a:buNone/>
            </a:pPr>
            <a:endParaRPr lang="id-ID" sz="700" dirty="0"/>
          </a:p>
        </p:txBody>
      </p:sp>
      <p:sp>
        <p:nvSpPr>
          <p:cNvPr id="66" name="Txt 66"/>
          <p:cNvSpPr/>
          <p:nvPr/>
        </p:nvSpPr>
        <p:spPr>
          <a:xfrm>
            <a:off x="1783080" y="60167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: Variabel bebas</a:t>
            </a:r>
          </a:p>
        </p:txBody>
      </p:sp>
      <p:sp>
        <p:nvSpPr>
          <p:cNvPr id="67" name="Box 67"/>
          <p:cNvSpPr/>
          <p:nvPr/>
        </p:nvSpPr>
        <p:spPr>
          <a:xfrm>
            <a:off x="3429000" y="6016752"/>
            <a:ext cx="4572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>
              <a:buNone/>
            </a:pPr>
            <a:endParaRPr lang="id-ID" sz="700" dirty="0"/>
          </a:p>
        </p:txBody>
      </p:sp>
      <p:sp>
        <p:nvSpPr>
          <p:cNvPr id="68" name="Txt 68"/>
          <p:cNvSpPr/>
          <p:nvPr/>
        </p:nvSpPr>
        <p:spPr>
          <a:xfrm>
            <a:off x="3977640" y="60167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: Variabel tergantung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Gambar 3.1  Alur Seleksi Subjek Penelitian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12745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7A5121-DB91-E602-FB5A-C0615CA8DAAA}"/>
              </a:ext>
            </a:extLst>
          </p:cNvPr>
          <p:cNvGrpSpPr/>
          <p:nvPr/>
        </p:nvGrpSpPr>
        <p:grpSpPr>
          <a:xfrm>
            <a:off x="1554493" y="1325880"/>
            <a:ext cx="10195547" cy="4160519"/>
            <a:chOff x="1554493" y="1325880"/>
            <a:chExt cx="10195547" cy="4160519"/>
          </a:xfrm>
        </p:grpSpPr>
        <p:sp>
          <p:nvSpPr>
            <p:cNvPr id="4" name="Text 2"/>
            <p:cNvSpPr/>
            <p:nvPr/>
          </p:nvSpPr>
          <p:spPr>
            <a:xfrm>
              <a:off x="2103120" y="1325880"/>
              <a:ext cx="5760720" cy="86868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Populasi terjangkau</a:t>
              </a:r>
              <a:endParaRPr lang="en-US" dirty="0"/>
            </a:p>
            <a:p>
              <a:pPr marL="0" indent="0" algn="ctr">
                <a:lnSpc>
                  <a:spcPct val="950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Pasien ICU dewasa RSCM peserta JKN, Mei 2025–Mei 2026  (n = …)</a:t>
              </a:r>
              <a:endParaRPr lang="en-US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983480" y="2194560"/>
              <a:ext cx="0" cy="8686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6" name="Text 4"/>
            <p:cNvSpPr/>
            <p:nvPr/>
          </p:nvSpPr>
          <p:spPr>
            <a:xfrm>
              <a:off x="8366760" y="1325880"/>
              <a:ext cx="3383280" cy="2697480"/>
            </a:xfrm>
            <a:prstGeom prst="roundRect">
              <a:avLst>
                <a:gd name="adj" fmla="val 2439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l">
                <a:lnSpc>
                  <a:spcPct val="95000"/>
                </a:lnSpc>
                <a:buNone/>
              </a:pPr>
              <a:r>
                <a:rPr lang="en-US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Dieksklusi  (n = …):</a:t>
              </a:r>
              <a:endParaRPr lang="en-US" dirty="0"/>
            </a:p>
            <a:p>
              <a:pPr marL="0" indent="0" algn="l">
                <a:lnSpc>
                  <a:spcPct val="950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• Dirawat ICU &lt; 24 jam / meninggal dalam 24 jam pertama</a:t>
              </a:r>
              <a:endParaRPr lang="en-US" dirty="0"/>
            </a:p>
            <a:p>
              <a:pPr marL="0" indent="0" algn="l">
                <a:lnSpc>
                  <a:spcPct val="950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• Rujukan tanpa data waktu masuk RS asal</a:t>
              </a:r>
              <a:endParaRPr lang="en-US" dirty="0"/>
            </a:p>
            <a:p>
              <a:pPr marL="0" indent="0" algn="l">
                <a:lnSpc>
                  <a:spcPct val="950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• Data kunci tidak lengkap</a:t>
              </a:r>
              <a:endParaRPr lang="en-US" dirty="0"/>
            </a:p>
            <a:p>
              <a:pPr marL="0" indent="0" algn="l">
                <a:lnSpc>
                  <a:spcPct val="950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• Rawat ulang ICU dalam episode yang sama</a:t>
              </a:r>
              <a:endParaRPr lang="en-US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983480" y="2624328"/>
              <a:ext cx="33832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8" name="Text 6"/>
            <p:cNvSpPr/>
            <p:nvPr/>
          </p:nvSpPr>
          <p:spPr>
            <a:xfrm>
              <a:off x="2103120" y="3063240"/>
              <a:ext cx="5760720" cy="86868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22225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Subjek memenuhi kriteria inklusi &amp; eksklusi</a:t>
              </a:r>
              <a:endParaRPr lang="en-US" dirty="0"/>
            </a:p>
            <a:p>
              <a:pPr marL="0" indent="0" algn="ctr">
                <a:lnSpc>
                  <a:spcPct val="950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Dianalisis  (n = …)</a:t>
              </a:r>
              <a:endParaRPr lang="en-US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983480" y="3931920"/>
              <a:ext cx="0" cy="411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3543300" y="4343400"/>
              <a:ext cx="288036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543300" y="4343400"/>
              <a:ext cx="0" cy="3657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6423660" y="4343400"/>
              <a:ext cx="0" cy="3657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3" name="Text 11"/>
            <p:cNvSpPr/>
            <p:nvPr/>
          </p:nvSpPr>
          <p:spPr>
            <a:xfrm>
              <a:off x="1554493" y="4709160"/>
              <a:ext cx="3383267" cy="777237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b="1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Under-reimbursement</a:t>
              </a:r>
              <a:r>
                <a:rPr lang="en-US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: Ya</a:t>
              </a:r>
              <a:endParaRPr lang="en-US" dirty="0"/>
            </a:p>
            <a:p>
              <a:pPr marL="0" indent="0" algn="ctr">
                <a:lnSpc>
                  <a:spcPct val="95000"/>
                </a:lnSpc>
                <a:buNone/>
              </a:pPr>
              <a:r>
                <a:rPr lang="en-US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rasio</a:t>
              </a: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&lt; 1  (n = …)</a:t>
              </a: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029199" y="4709160"/>
              <a:ext cx="3383267" cy="777239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b="1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Under-reimbursement</a:t>
              </a:r>
              <a:r>
                <a:rPr lang="en-US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: Tidak</a:t>
              </a:r>
              <a:endParaRPr lang="en-US" dirty="0"/>
            </a:p>
            <a:p>
              <a:pPr marL="0" indent="0" algn="ctr">
                <a:lnSpc>
                  <a:spcPct val="95000"/>
                </a:lnSpc>
                <a:buNone/>
              </a:pPr>
              <a:r>
                <a:rPr lang="en-US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rasio</a:t>
              </a:r>
              <a:r>
                <a:rPr lang="en-US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&gt; 1  (n = …)</a:t>
              </a:r>
              <a:endParaRPr lang="en-US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Catatan: jumlah (n) diisi setelah pengumpulan data. Konsisten dengan kriteria inklusi/eksklusi pada subbab 3.3.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39C066C-986E-B9ED-3868-31865C588D4E}"/>
              </a:ext>
            </a:extLst>
          </p:cNvPr>
          <p:cNvGrpSpPr/>
          <p:nvPr/>
        </p:nvGrpSpPr>
        <p:grpSpPr>
          <a:xfrm>
            <a:off x="702644" y="1280160"/>
            <a:ext cx="10838047" cy="5253228"/>
            <a:chOff x="2148840" y="1280160"/>
            <a:chExt cx="7863840" cy="5253228"/>
          </a:xfrm>
        </p:grpSpPr>
        <p:sp>
          <p:nvSpPr>
            <p:cNvPr id="4" name="Text 2"/>
            <p:cNvSpPr/>
            <p:nvPr/>
          </p:nvSpPr>
          <p:spPr>
            <a:xfrm>
              <a:off x="2148840" y="1280160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sz="16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2331720" y="1280160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1. Populasi terjangkau   </a:t>
              </a:r>
              <a:r>
                <a:rPr lang="en-US" sz="16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Pasien ICU dewasa RSCM peserta JKN, Mei 2025–Mei 2026</a:t>
              </a:r>
              <a:endParaRPr lang="en-US" sz="16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6080760" y="1828800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7" name="Text 5"/>
            <p:cNvSpPr/>
            <p:nvPr/>
          </p:nvSpPr>
          <p:spPr>
            <a:xfrm>
              <a:off x="2148840" y="1952244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331720" y="1952244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2. Seleksi sampel (consecutive)   </a:t>
              </a:r>
              <a:r>
                <a:rPr lang="en-US" sz="16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Penerapan kriteria inklusi &amp; eksklusi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080760" y="2500884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0" name="Text 8"/>
            <p:cNvSpPr/>
            <p:nvPr/>
          </p:nvSpPr>
          <p:spPr>
            <a:xfrm>
              <a:off x="2148840" y="2624328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331720" y="2624328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3. Pengumpulan variabel 24 jam pertama   </a:t>
              </a:r>
              <a:r>
                <a:rPr lang="en-US" sz="16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Variabel klinis + administratif dari rekam medis &amp; SIM RS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080760" y="3172968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3" name="Text 11"/>
            <p:cNvSpPr/>
            <p:nvPr/>
          </p:nvSpPr>
          <p:spPr>
            <a:xfrm>
              <a:off x="2148840" y="3296412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331720" y="3296412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4. Penentuan status under-reimbursement   </a:t>
              </a:r>
              <a:r>
                <a:rPr lang="en-US" sz="16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Rasio biaya riil/</a:t>
              </a:r>
              <a:r>
                <a:rPr lang="en-US" sz="1600" i="1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klaim</a:t>
              </a:r>
              <a:r>
                <a:rPr lang="en-US" sz="16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&lt; 1 dihitung di akhir episode rawat inap</a:t>
              </a: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080760" y="3845052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6" name="Text 14"/>
            <p:cNvSpPr/>
            <p:nvPr/>
          </p:nvSpPr>
          <p:spPr>
            <a:xfrm>
              <a:off x="2148840" y="3968496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331720" y="3968496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5. Prapemrosesan data   </a:t>
              </a:r>
              <a:r>
                <a:rPr lang="en-US" sz="16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MICE di dalam fold · encoding · pembobotan kelas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080760" y="4517136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9" name="Text 17"/>
            <p:cNvSpPr/>
            <p:nvPr/>
          </p:nvSpPr>
          <p:spPr>
            <a:xfrm>
              <a:off x="2148840" y="4640580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331720" y="4640580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6. Pengembangan &amp; validasi model   </a:t>
              </a:r>
              <a:r>
                <a:rPr lang="en-US" sz="16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XGBoost · Random Forest · elastic-net LR — nested CV (5×3) + validasi temporal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080760" y="5189220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22" name="Text 20"/>
            <p:cNvSpPr/>
            <p:nvPr/>
          </p:nvSpPr>
          <p:spPr>
            <a:xfrm>
              <a:off x="2148840" y="5312664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331720" y="5312664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7. Evaluasi performa   </a:t>
              </a:r>
              <a:r>
                <a:rPr lang="en-US" sz="16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Diskriminasi (AUC) · kalibrasi · decision curve · fairness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080760" y="5861304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25" name="Text 23"/>
            <p:cNvSpPr/>
            <p:nvPr/>
          </p:nvSpPr>
          <p:spPr>
            <a:xfrm>
              <a:off x="2148840" y="5984748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22225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331720" y="5984748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8. Interpretasi SHAP &amp; pelaporan TRIPOD+AI   </a:t>
              </a:r>
              <a:r>
                <a:rPr lang="en-US" sz="16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Feature importance, penjelasan per pasien, dan pelaporan transparan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Tabel 2.1  Justifikasi Teoretis Variabel Prediktor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Bagian 1 dari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112745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3139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Variabel Prediktor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Konstruk Teori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Mekanisme / Arah Hubungan dengan Biaya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Referensi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Usia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Predisposisi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Usia lanjut → cadangan fisiologis menurun, komplikasi, lama rawat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3, 33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Jenis kelamin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Predisposisi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Variasi pola penyakit dan utilisasi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Kelas rawat JKN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Pendukung (Andersen) + Casemix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Menentukan akomodasi dan komponen tarif; proxy segmentasi peserta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4, 6, 33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Tipe admisi (elektif/emergensi)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Pendukung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Emergensi → intensitas &amp;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16, 33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Sumber admisi ICU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Pendukung (Andersen) + Struktur (Donabedian)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Eskalasi dari bangsal → kompleksitas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33, 34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Durasi rawat pra-ICU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Struktur (Donabedian)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Keterlambatan → disfungsi organ, intervensi agresif,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Ventilasi mekanik (ya/tidak)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Proses (Donabedian) + 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Organ support; sedasi, monitoring → biaya ↑ (prediktor terkuat)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1–3, 10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Vasopresor/inotropik (ya/tidak)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Proses + Kebutuhan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Dekompensasi sirkulasi; akses sentral, monitoring invasif →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3, 14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Transfusi darah (ya/tidak)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Proses + Kebutuhan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Perdarahan/anemia berat; fitur SHAP terpenting prediksi defisit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Pembedahan 24 jam (tidak/elektif/emergensi)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Proses (Donabedian)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Prosedur → ventilasi, resusitasi, monitoring →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10, 16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Tabel 2.1  Justifikasi Teoretis Variabel Prediktor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Bagian 2 dari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112745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2895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Variabel Prediktor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Konstruk Teori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Mekanisme / Arah Hubungan dengan Biaya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Referensi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Jumlah organ support (0–3)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Proses + Kebutuhan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Proxy kompak intensitas perawatan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1–3, 10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Respirasi – SpO₂/FiO₂ (mSOFA)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(Andersen) + Proses (Donabedian)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Hipoksemia/gagal napas → oksigen, ventilasi → biaya ↑; pengganti PaO₂/FiO₂ bebas AGD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18, 19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Kardiovaskular – MAP + vasopresor (mSOFA)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Hipotensi/syok → vasopresor, monitoring invasif →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14, 18, 19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Sistem saraf pusat – GCS (mSOFA)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Penurunan kesadaran → proteksi jalan napas, ventilasi, monitoring →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18, 19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Renal – kreatinin serum (mSOFA)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Disfungsi ginjal akut → risiko RRT, lama rawat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18, 19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Hepar – ikterus klinis (mSOFA)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Disfungsi hepar → komplikasi, koagulopati → biaya ↑; pengganti bilirubin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Charlson Comorbidity Index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Predisposisi/Kebutuhan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Beban kronis → komplikasi, lama rawat,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 indeks massa tubuh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Predisposisi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Ekstrem IMT → risiko &amp; kebutuhan perawatan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 diagnosis utama (sistem organ)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+ Casemix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Proxy klinis CMG group; menentukan trajektori biaya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4, 10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Tabel 3.1  Batasan Operasional Variabel Penelitian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Bagian 1 dari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112745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242316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Variabel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Batasan Operasional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Cara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Skala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Hasil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Usia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Usia pasien pada saat masuk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 elektronik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Tahun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Jenis kelamin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Jenis kelamin biologis pasien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 elektronik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Laki-laki/perempuan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Kelas rawat JKN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Kelas perawatan sesuai kepesertaan JKN yang ditetapkan saat admisi rumah sakit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administrasi SIM RS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ordinal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1/2/3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Tipe admisi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Jalur masuk pasien ke ICU sebagaimana terdokumentasi saat admisi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 elektronik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Elektif/emergensi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Durasi rawat pra-ICU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Selisih waktu antara masuk rumah sakit dan masuk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Selisih timestamp rekam medis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Hari (desimal)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Ventilasi mekanik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Pemberian ventilasi mekanik invasif dalam 24 jam pertama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medis/penagihan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Ya/tidak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Vasopresor/inotropik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Pemberian vasopresor dan/atau inotropik intravena dalam 24 jam pertama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medis/penagihan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Ya/tidak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Transfusi darah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Pemberian komponen darah dalam 24 jam pertama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Catatan bank darah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Ya/tidak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Pembedahan 24 jam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Tindakan pembedahan yang dilakukan dalam 24 jam pertama perawatan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 kamar operasi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Tidak/elektif/emergensi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Tabel 3.1  Batasan Operasional Variabel Penelitian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Bagian 2 dari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112745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356616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Variabel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Batasan Operasional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Cara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Skala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Hasil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 terendah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Tekanan arteri rerata terendah yang terdokumentasi dalam 24 jam pertama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Lembar observasi/monitor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mmHg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Rasio SpO₂/FiO₂ terendah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Rasio saturasi oksigen perifer terhadap fraksi oksigen inspirasi terendah dalam 24 jam pertama; pada pasien tanpa ventilasi mekanik, FiO₂ diestimasi dari laju aliran oksigen menggunakan tabel konversi baku dan jenis alat oksigen dicatat sebagai variabel pendamping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Lembar observasi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Rasio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GCS terendah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Glasgow Coma Scale terendah pada kondisi bebas sedasi dalam 24 jam pertama. Hierarki penilaian ditetapkan di muka: (1) nilai terendah saat pasien tidak tersedasi, termasuk saat sedation hold; (2) bila tersedasi sepanjang 24 jam, nilai terakhir sebelum sedasi dimulai; (3) bila keduanya tidak tersedia, dinyatakan hilang dan diimputasi disertai penanda “tidak dapat dinilai karena sedasi”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Lembar observasi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diskret/ordinal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3–15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Kreatinin tertinggi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Kadar kreatinin serum tertinggi dalam 24 jam pertama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Hasil laboratorium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mg/dL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 diagnosis utama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Kelompok diagnosis utama saat masuk ICU menurut sistem organ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 elektronik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Respirasi/kardiovaskular/neurologi/sepsis-infeksi/bedah-trauma/lain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tagihan episode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tagihan rumah sakit untuk seluruh episode rawat inap (pra-ICU, ICU, dan pasca-ICU) menurut tarif rumah sakit yang berlaku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Sistem informasi keuangan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Rupiah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Klaim INA-CBGs episode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Nilai klaim final yang dibayarkan BPJS Kesehatan untuk satu episode rawat inap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klaim BPJS/SIM RS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Rupiah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Under-reimbursement (variabel dependen)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 total tagihan episode melebihi total klaim INA-CBGs episode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Perhitungan rasio tagihan terhadap klaim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 (rasio &gt;1)/tidak (rasio ≤1)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1503</Words>
  <Application>Microsoft Office PowerPoint</Application>
  <PresentationFormat>Widescreen</PresentationFormat>
  <Paragraphs>282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Nasywa Khairunnisa</cp:lastModifiedBy>
  <cp:revision>5</cp:revision>
  <dcterms:created xsi:type="dcterms:W3CDTF">2026-07-17T13:10:50Z</dcterms:created>
  <dcterms:modified xsi:type="dcterms:W3CDTF">2026-07-23T11:36:26Z</dcterms:modified>
</cp:coreProperties>
</file>